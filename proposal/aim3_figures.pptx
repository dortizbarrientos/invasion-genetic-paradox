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41148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 i="0">
                <a:solidFill>
                  <a:srgbClr val="2C2C2A"/>
                </a:solidFill>
                <a:latin typeface="Arial"/>
              </a:rPr>
              <a:t>Accessibility positions crossovers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0584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1">
                <a:solidFill>
                  <a:srgbClr val="5F5E5A"/>
                </a:solidFill>
                <a:latin typeface="Arial"/>
              </a:rPr>
              <a:t>The recovered result: SPO11 needs open DNA, so crossovers fall in accessible peaks and avoid closed troughs.</a:t>
            </a:r>
          </a:p>
        </p:txBody>
      </p:sp>
      <p:sp>
        <p:nvSpPr>
          <p:cNvPr id="4" name="Freeform 3"/>
          <p:cNvSpPr/>
          <p:nvPr/>
        </p:nvSpPr>
        <p:spPr>
          <a:xfrm>
            <a:off x="2108606" y="2756002"/>
            <a:ext cx="6067959" cy="1228039"/>
          </a:xfrm>
          <a:custGeom>
            <a:avLst/>
            <a:gdLst/>
            <a:ahLst/>
            <a:cxnLst/>
            <a:rect l="l" t="t" r="r" b="b"/>
            <a:pathLst>
              <a:path w="6067959" h="1228039">
                <a:moveTo>
                  <a:pt x="0" y="1155801"/>
                </a:moveTo>
                <a:lnTo>
                  <a:pt x="108357" y="1141312"/>
                </a:lnTo>
                <a:lnTo>
                  <a:pt x="216713" y="1098571"/>
                </a:lnTo>
                <a:lnTo>
                  <a:pt x="325070" y="1029721"/>
                </a:lnTo>
                <a:lnTo>
                  <a:pt x="433426" y="938216"/>
                </a:lnTo>
                <a:lnTo>
                  <a:pt x="541782" y="828642"/>
                </a:lnTo>
                <a:lnTo>
                  <a:pt x="650139" y="706495"/>
                </a:lnTo>
                <a:lnTo>
                  <a:pt x="758495" y="577900"/>
                </a:lnTo>
                <a:lnTo>
                  <a:pt x="866852" y="449305"/>
                </a:lnTo>
                <a:lnTo>
                  <a:pt x="975208" y="327159"/>
                </a:lnTo>
                <a:lnTo>
                  <a:pt x="1083564" y="217585"/>
                </a:lnTo>
                <a:lnTo>
                  <a:pt x="1191921" y="126079"/>
                </a:lnTo>
                <a:lnTo>
                  <a:pt x="1300277" y="57230"/>
                </a:lnTo>
                <a:lnTo>
                  <a:pt x="1408634" y="14489"/>
                </a:lnTo>
                <a:lnTo>
                  <a:pt x="1516990" y="0"/>
                </a:lnTo>
                <a:lnTo>
                  <a:pt x="1625346" y="14489"/>
                </a:lnTo>
                <a:lnTo>
                  <a:pt x="1733703" y="57230"/>
                </a:lnTo>
                <a:lnTo>
                  <a:pt x="1842059" y="126079"/>
                </a:lnTo>
                <a:lnTo>
                  <a:pt x="1950416" y="217585"/>
                </a:lnTo>
                <a:lnTo>
                  <a:pt x="2058772" y="327159"/>
                </a:lnTo>
                <a:lnTo>
                  <a:pt x="2167128" y="449305"/>
                </a:lnTo>
                <a:lnTo>
                  <a:pt x="2275485" y="577900"/>
                </a:lnTo>
                <a:lnTo>
                  <a:pt x="2383841" y="706495"/>
                </a:lnTo>
                <a:lnTo>
                  <a:pt x="2492198" y="828642"/>
                </a:lnTo>
                <a:lnTo>
                  <a:pt x="2600554" y="938216"/>
                </a:lnTo>
                <a:lnTo>
                  <a:pt x="2708910" y="1029721"/>
                </a:lnTo>
                <a:lnTo>
                  <a:pt x="2817267" y="1098571"/>
                </a:lnTo>
                <a:lnTo>
                  <a:pt x="2925623" y="1141312"/>
                </a:lnTo>
                <a:lnTo>
                  <a:pt x="3033980" y="1155801"/>
                </a:lnTo>
                <a:lnTo>
                  <a:pt x="3142336" y="1141312"/>
                </a:lnTo>
                <a:lnTo>
                  <a:pt x="3250692" y="1098571"/>
                </a:lnTo>
                <a:lnTo>
                  <a:pt x="3359049" y="1029721"/>
                </a:lnTo>
                <a:lnTo>
                  <a:pt x="3467405" y="938216"/>
                </a:lnTo>
                <a:lnTo>
                  <a:pt x="3575762" y="828642"/>
                </a:lnTo>
                <a:lnTo>
                  <a:pt x="3684118" y="706495"/>
                </a:lnTo>
                <a:lnTo>
                  <a:pt x="3792474" y="577900"/>
                </a:lnTo>
                <a:lnTo>
                  <a:pt x="3900831" y="449305"/>
                </a:lnTo>
                <a:lnTo>
                  <a:pt x="4009187" y="327159"/>
                </a:lnTo>
                <a:lnTo>
                  <a:pt x="4117544" y="217585"/>
                </a:lnTo>
                <a:lnTo>
                  <a:pt x="4225900" y="126079"/>
                </a:lnTo>
                <a:lnTo>
                  <a:pt x="4334256" y="57230"/>
                </a:lnTo>
                <a:lnTo>
                  <a:pt x="4442613" y="14489"/>
                </a:lnTo>
                <a:lnTo>
                  <a:pt x="4550969" y="0"/>
                </a:lnTo>
                <a:lnTo>
                  <a:pt x="4659326" y="14489"/>
                </a:lnTo>
                <a:lnTo>
                  <a:pt x="4767682" y="57230"/>
                </a:lnTo>
                <a:lnTo>
                  <a:pt x="4876038" y="126079"/>
                </a:lnTo>
                <a:lnTo>
                  <a:pt x="4984395" y="217585"/>
                </a:lnTo>
                <a:lnTo>
                  <a:pt x="5092751" y="327159"/>
                </a:lnTo>
                <a:lnTo>
                  <a:pt x="5201108" y="449305"/>
                </a:lnTo>
                <a:lnTo>
                  <a:pt x="5309464" y="577900"/>
                </a:lnTo>
                <a:lnTo>
                  <a:pt x="5417820" y="706495"/>
                </a:lnTo>
                <a:lnTo>
                  <a:pt x="5526177" y="828642"/>
                </a:lnTo>
                <a:lnTo>
                  <a:pt x="5634533" y="938216"/>
                </a:lnTo>
                <a:lnTo>
                  <a:pt x="5742890" y="1029721"/>
                </a:lnTo>
                <a:lnTo>
                  <a:pt x="5851246" y="1098571"/>
                </a:lnTo>
                <a:lnTo>
                  <a:pt x="5959602" y="1141312"/>
                </a:lnTo>
                <a:lnTo>
                  <a:pt x="6067959" y="1155801"/>
                </a:lnTo>
                <a:lnTo>
                  <a:pt x="6067959" y="1156707"/>
                </a:lnTo>
                <a:lnTo>
                  <a:pt x="6067959" y="1159378"/>
                </a:lnTo>
                <a:lnTo>
                  <a:pt x="6067959" y="1163681"/>
                </a:lnTo>
                <a:lnTo>
                  <a:pt x="6067959" y="1169400"/>
                </a:lnTo>
                <a:lnTo>
                  <a:pt x="6067959" y="1176249"/>
                </a:lnTo>
                <a:lnTo>
                  <a:pt x="6067959" y="1183883"/>
                </a:lnTo>
                <a:lnTo>
                  <a:pt x="6067959" y="1191920"/>
                </a:lnTo>
                <a:lnTo>
                  <a:pt x="6067959" y="1199957"/>
                </a:lnTo>
                <a:lnTo>
                  <a:pt x="6067959" y="1207591"/>
                </a:lnTo>
                <a:lnTo>
                  <a:pt x="6067959" y="1214440"/>
                </a:lnTo>
                <a:lnTo>
                  <a:pt x="6067959" y="1220159"/>
                </a:lnTo>
                <a:lnTo>
                  <a:pt x="6067959" y="1224462"/>
                </a:lnTo>
                <a:lnTo>
                  <a:pt x="6067959" y="1227133"/>
                </a:lnTo>
                <a:lnTo>
                  <a:pt x="6067959" y="1228039"/>
                </a:lnTo>
                <a:lnTo>
                  <a:pt x="5634533" y="1228039"/>
                </a:lnTo>
                <a:lnTo>
                  <a:pt x="5201108" y="1228039"/>
                </a:lnTo>
                <a:lnTo>
                  <a:pt x="4767682" y="1228039"/>
                </a:lnTo>
                <a:lnTo>
                  <a:pt x="4334256" y="1228039"/>
                </a:lnTo>
                <a:lnTo>
                  <a:pt x="3900831" y="1228039"/>
                </a:lnTo>
                <a:lnTo>
                  <a:pt x="3467405" y="1228039"/>
                </a:lnTo>
                <a:lnTo>
                  <a:pt x="3033980" y="1228039"/>
                </a:lnTo>
                <a:lnTo>
                  <a:pt x="2600554" y="1228039"/>
                </a:lnTo>
                <a:lnTo>
                  <a:pt x="2167128" y="1228039"/>
                </a:lnTo>
                <a:lnTo>
                  <a:pt x="1733703" y="1228039"/>
                </a:lnTo>
                <a:lnTo>
                  <a:pt x="1300277" y="1228039"/>
                </a:lnTo>
                <a:lnTo>
                  <a:pt x="866852" y="1228039"/>
                </a:lnTo>
                <a:lnTo>
                  <a:pt x="433426" y="1228039"/>
                </a:lnTo>
                <a:lnTo>
                  <a:pt x="0" y="1228039"/>
                </a:lnTo>
                <a:close/>
              </a:path>
            </a:pathLst>
          </a:custGeom>
          <a:solidFill>
            <a:srgbClr val="F4D9A8"/>
          </a:solidFill>
          <a:ln w="6350">
            <a:solidFill>
              <a:srgbClr val="F4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2108606" y="2756002"/>
            <a:ext cx="6067959" cy="1155801"/>
          </a:xfrm>
          <a:custGeom>
            <a:avLst/>
            <a:gdLst/>
            <a:ahLst/>
            <a:cxnLst/>
            <a:rect l="l" t="t" r="r" b="b"/>
            <a:pathLst>
              <a:path w="6067959" h="1155801">
                <a:moveTo>
                  <a:pt x="0" y="1155801"/>
                </a:moveTo>
                <a:lnTo>
                  <a:pt x="108357" y="1141312"/>
                </a:lnTo>
                <a:lnTo>
                  <a:pt x="216713" y="1098571"/>
                </a:lnTo>
                <a:lnTo>
                  <a:pt x="325070" y="1029721"/>
                </a:lnTo>
                <a:lnTo>
                  <a:pt x="433426" y="938216"/>
                </a:lnTo>
                <a:lnTo>
                  <a:pt x="541782" y="828642"/>
                </a:lnTo>
                <a:lnTo>
                  <a:pt x="650139" y="706495"/>
                </a:lnTo>
                <a:lnTo>
                  <a:pt x="758495" y="577900"/>
                </a:lnTo>
                <a:lnTo>
                  <a:pt x="866852" y="449305"/>
                </a:lnTo>
                <a:lnTo>
                  <a:pt x="975208" y="327159"/>
                </a:lnTo>
                <a:lnTo>
                  <a:pt x="1083564" y="217585"/>
                </a:lnTo>
                <a:lnTo>
                  <a:pt x="1191921" y="126079"/>
                </a:lnTo>
                <a:lnTo>
                  <a:pt x="1300277" y="57230"/>
                </a:lnTo>
                <a:lnTo>
                  <a:pt x="1408634" y="14489"/>
                </a:lnTo>
                <a:lnTo>
                  <a:pt x="1516990" y="0"/>
                </a:lnTo>
                <a:lnTo>
                  <a:pt x="1625346" y="14489"/>
                </a:lnTo>
                <a:lnTo>
                  <a:pt x="1733703" y="57230"/>
                </a:lnTo>
                <a:lnTo>
                  <a:pt x="1842059" y="126079"/>
                </a:lnTo>
                <a:lnTo>
                  <a:pt x="1950416" y="217585"/>
                </a:lnTo>
                <a:lnTo>
                  <a:pt x="2058772" y="327159"/>
                </a:lnTo>
                <a:lnTo>
                  <a:pt x="2167128" y="449305"/>
                </a:lnTo>
                <a:lnTo>
                  <a:pt x="2275485" y="577900"/>
                </a:lnTo>
                <a:lnTo>
                  <a:pt x="2383841" y="706495"/>
                </a:lnTo>
                <a:lnTo>
                  <a:pt x="2492198" y="828642"/>
                </a:lnTo>
                <a:lnTo>
                  <a:pt x="2600554" y="938216"/>
                </a:lnTo>
                <a:lnTo>
                  <a:pt x="2708910" y="1029721"/>
                </a:lnTo>
                <a:lnTo>
                  <a:pt x="2817267" y="1098571"/>
                </a:lnTo>
                <a:lnTo>
                  <a:pt x="2925623" y="1141312"/>
                </a:lnTo>
                <a:lnTo>
                  <a:pt x="3033980" y="1155801"/>
                </a:lnTo>
                <a:lnTo>
                  <a:pt x="3142336" y="1141312"/>
                </a:lnTo>
                <a:lnTo>
                  <a:pt x="3250692" y="1098571"/>
                </a:lnTo>
                <a:lnTo>
                  <a:pt x="3359049" y="1029721"/>
                </a:lnTo>
                <a:lnTo>
                  <a:pt x="3467405" y="938216"/>
                </a:lnTo>
                <a:lnTo>
                  <a:pt x="3575762" y="828642"/>
                </a:lnTo>
                <a:lnTo>
                  <a:pt x="3684118" y="706495"/>
                </a:lnTo>
                <a:lnTo>
                  <a:pt x="3792474" y="577900"/>
                </a:lnTo>
                <a:lnTo>
                  <a:pt x="3900831" y="449305"/>
                </a:lnTo>
                <a:lnTo>
                  <a:pt x="4009187" y="327159"/>
                </a:lnTo>
                <a:lnTo>
                  <a:pt x="4117544" y="217585"/>
                </a:lnTo>
                <a:lnTo>
                  <a:pt x="4225900" y="126079"/>
                </a:lnTo>
                <a:lnTo>
                  <a:pt x="4334256" y="57230"/>
                </a:lnTo>
                <a:lnTo>
                  <a:pt x="4442613" y="14489"/>
                </a:lnTo>
                <a:lnTo>
                  <a:pt x="4550969" y="0"/>
                </a:lnTo>
                <a:lnTo>
                  <a:pt x="4659326" y="14489"/>
                </a:lnTo>
                <a:lnTo>
                  <a:pt x="4767682" y="57230"/>
                </a:lnTo>
                <a:lnTo>
                  <a:pt x="4876038" y="126079"/>
                </a:lnTo>
                <a:lnTo>
                  <a:pt x="4984395" y="217585"/>
                </a:lnTo>
                <a:lnTo>
                  <a:pt x="5092751" y="327159"/>
                </a:lnTo>
                <a:lnTo>
                  <a:pt x="5201108" y="449305"/>
                </a:lnTo>
                <a:lnTo>
                  <a:pt x="5309464" y="577900"/>
                </a:lnTo>
                <a:lnTo>
                  <a:pt x="5417820" y="706495"/>
                </a:lnTo>
                <a:lnTo>
                  <a:pt x="5526177" y="828642"/>
                </a:lnTo>
                <a:lnTo>
                  <a:pt x="5634533" y="938216"/>
                </a:lnTo>
                <a:lnTo>
                  <a:pt x="5742890" y="1029721"/>
                </a:lnTo>
                <a:lnTo>
                  <a:pt x="5851246" y="1098571"/>
                </a:lnTo>
                <a:lnTo>
                  <a:pt x="5959602" y="1141312"/>
                </a:lnTo>
                <a:lnTo>
                  <a:pt x="6067959" y="1155801"/>
                </a:lnTo>
              </a:path>
            </a:pathLst>
          </a:custGeom>
          <a:noFill/>
          <a:ln w="2540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58745" y="2407432"/>
            <a:ext cx="173370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dirty="0">
                <a:solidFill>
                  <a:srgbClr val="854F0B"/>
                </a:solidFill>
                <a:latin typeface="Arial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5734" y="3621024"/>
            <a:ext cx="173370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dirty="0">
                <a:solidFill>
                  <a:srgbClr val="5F5E5A"/>
                </a:solidFill>
                <a:latin typeface="Arial"/>
              </a:rPr>
              <a:t>closed</a:t>
            </a:r>
          </a:p>
        </p:txBody>
      </p:sp>
      <p:sp>
        <p:nvSpPr>
          <p:cNvPr id="8" name="Oval 7"/>
          <p:cNvSpPr/>
          <p:nvPr/>
        </p:nvSpPr>
        <p:spPr>
          <a:xfrm>
            <a:off x="1935236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66396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97557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24740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55900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287061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58719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89880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21040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38911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72890" y="4229649"/>
            <a:ext cx="173370" cy="173370"/>
          </a:xfrm>
          <a:prstGeom prst="ellipse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2108606" y="4706417"/>
            <a:ext cx="6356909" cy="0"/>
          </a:xfrm>
          <a:prstGeom prst="line">
            <a:avLst/>
          </a:prstGeom>
          <a:ln w="12700">
            <a:solidFill>
              <a:srgbClr val="B4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10016" y="4590837"/>
            <a:ext cx="231160" cy="231160"/>
          </a:xfrm>
          <a:prstGeom prst="line">
            <a:avLst/>
          </a:prstGeom>
          <a:ln w="31750">
            <a:solidFill>
              <a:srgbClr val="0F6E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510016" y="4590837"/>
            <a:ext cx="231160" cy="231160"/>
          </a:xfrm>
          <a:prstGeom prst="line">
            <a:avLst/>
          </a:prstGeom>
          <a:ln w="31750">
            <a:solidFill>
              <a:srgbClr val="0F6E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43995" y="4590837"/>
            <a:ext cx="231160" cy="231160"/>
          </a:xfrm>
          <a:prstGeom prst="line">
            <a:avLst/>
          </a:prstGeom>
          <a:ln w="31750">
            <a:solidFill>
              <a:srgbClr val="0F6E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543995" y="4590837"/>
            <a:ext cx="231160" cy="231160"/>
          </a:xfrm>
          <a:prstGeom prst="line">
            <a:avLst/>
          </a:prstGeom>
          <a:ln w="31750">
            <a:solidFill>
              <a:srgbClr val="0F6E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09990" y="3187598"/>
            <a:ext cx="216712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854F0B"/>
                </a:solidFill>
                <a:latin typeface="Arial"/>
              </a:rPr>
              <a:t>accessibility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9990" y="4227820"/>
            <a:ext cx="216712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444441"/>
                </a:solidFill>
                <a:latin typeface="Arial"/>
              </a:rPr>
              <a:t>nucleosomes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9990" y="4617903"/>
            <a:ext cx="216712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F6E56"/>
                </a:solidFill>
                <a:latin typeface="Arial"/>
              </a:rPr>
              <a:t>crossovers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365760"/>
            <a:ext cx="9418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 i="0">
                <a:solidFill>
                  <a:srgbClr val="2C2C2A"/>
                </a:solidFill>
                <a:latin typeface="Arial"/>
              </a:rPr>
              <a:t>Heat redistributes crossovers, and diversity follows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822960"/>
            <a:ext cx="94183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 i="1">
                <a:solidFill>
                  <a:srgbClr val="5F5E5A"/>
                </a:solidFill>
                <a:latin typeface="Arial"/>
              </a:rPr>
              <a:t>Parental heat opens one region; crossovers shift into it at the expense of the rest (total conserved); diversity then rises there.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03620" y="1984248"/>
            <a:ext cx="1097280" cy="3593592"/>
          </a:xfrm>
          <a:prstGeom prst="rect">
            <a:avLst/>
          </a:prstGeom>
          <a:solidFill>
            <a:srgbClr val="F4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29300" y="1755648"/>
            <a:ext cx="164592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854F0B"/>
                </a:solidFill>
                <a:latin typeface="Arial"/>
              </a:rPr>
              <a:t>opened by heat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2176272"/>
            <a:ext cx="219456" cy="0"/>
          </a:xfrm>
          <a:prstGeom prst="line">
            <a:avLst/>
          </a:prstGeom>
          <a:ln w="25400">
            <a:solidFill>
              <a:srgbClr val="8887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0028" y="2029968"/>
            <a:ext cx="96012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dirty="0">
                <a:solidFill>
                  <a:srgbClr val="444441"/>
                </a:solidFill>
                <a:latin typeface="Arial"/>
              </a:rPr>
              <a:t>control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176272"/>
            <a:ext cx="219456" cy="0"/>
          </a:xfrm>
          <a:prstGeom prst="line">
            <a:avLst/>
          </a:prstGeom>
          <a:ln w="25400">
            <a:solidFill>
              <a:srgbClr val="BA75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30752" y="2029968"/>
            <a:ext cx="8229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854F0B"/>
                </a:solidFill>
                <a:latin typeface="Arial"/>
              </a:rPr>
              <a:t>heat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3383280"/>
            <a:ext cx="6035040" cy="0"/>
          </a:xfrm>
          <a:prstGeom prst="line">
            <a:avLst/>
          </a:prstGeom>
          <a:ln w="12700">
            <a:solidFill>
              <a:srgbClr val="D3D1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2331720" y="2834640"/>
            <a:ext cx="5760720" cy="548640"/>
          </a:xfrm>
          <a:custGeom>
            <a:avLst/>
            <a:gdLst/>
            <a:ahLst/>
            <a:cxnLst/>
            <a:rect l="l" t="t" r="r" b="b"/>
            <a:pathLst>
              <a:path w="5760720" h="548640">
                <a:moveTo>
                  <a:pt x="0" y="548640"/>
                </a:moveTo>
                <a:lnTo>
                  <a:pt x="102870" y="541762"/>
                </a:lnTo>
                <a:lnTo>
                  <a:pt x="205740" y="521474"/>
                </a:lnTo>
                <a:lnTo>
                  <a:pt x="308610" y="488792"/>
                </a:lnTo>
                <a:lnTo>
                  <a:pt x="411480" y="445356"/>
                </a:lnTo>
                <a:lnTo>
                  <a:pt x="514350" y="393343"/>
                </a:lnTo>
                <a:lnTo>
                  <a:pt x="617220" y="335362"/>
                </a:lnTo>
                <a:lnTo>
                  <a:pt x="720090" y="274320"/>
                </a:lnTo>
                <a:lnTo>
                  <a:pt x="822960" y="213278"/>
                </a:lnTo>
                <a:lnTo>
                  <a:pt x="925830" y="155297"/>
                </a:lnTo>
                <a:lnTo>
                  <a:pt x="1028700" y="103284"/>
                </a:lnTo>
                <a:lnTo>
                  <a:pt x="1131570" y="59848"/>
                </a:lnTo>
                <a:lnTo>
                  <a:pt x="1234440" y="27166"/>
                </a:lnTo>
                <a:lnTo>
                  <a:pt x="1337310" y="6878"/>
                </a:lnTo>
                <a:lnTo>
                  <a:pt x="1440180" y="0"/>
                </a:lnTo>
                <a:lnTo>
                  <a:pt x="1543050" y="6878"/>
                </a:lnTo>
                <a:lnTo>
                  <a:pt x="1645920" y="27166"/>
                </a:lnTo>
                <a:lnTo>
                  <a:pt x="1748790" y="59848"/>
                </a:lnTo>
                <a:lnTo>
                  <a:pt x="1851660" y="103284"/>
                </a:lnTo>
                <a:lnTo>
                  <a:pt x="1954530" y="155297"/>
                </a:lnTo>
                <a:lnTo>
                  <a:pt x="2057400" y="213278"/>
                </a:lnTo>
                <a:lnTo>
                  <a:pt x="2160270" y="274320"/>
                </a:lnTo>
                <a:lnTo>
                  <a:pt x="2263140" y="335362"/>
                </a:lnTo>
                <a:lnTo>
                  <a:pt x="2366010" y="393343"/>
                </a:lnTo>
                <a:lnTo>
                  <a:pt x="2468880" y="445356"/>
                </a:lnTo>
                <a:lnTo>
                  <a:pt x="2571750" y="488792"/>
                </a:lnTo>
                <a:lnTo>
                  <a:pt x="2674620" y="521474"/>
                </a:lnTo>
                <a:lnTo>
                  <a:pt x="2777490" y="541762"/>
                </a:lnTo>
                <a:lnTo>
                  <a:pt x="2880360" y="548640"/>
                </a:lnTo>
                <a:lnTo>
                  <a:pt x="2983230" y="542622"/>
                </a:lnTo>
                <a:lnTo>
                  <a:pt x="3086100" y="524870"/>
                </a:lnTo>
                <a:lnTo>
                  <a:pt x="3188970" y="496273"/>
                </a:lnTo>
                <a:lnTo>
                  <a:pt x="3291840" y="458266"/>
                </a:lnTo>
                <a:lnTo>
                  <a:pt x="3394710" y="412755"/>
                </a:lnTo>
                <a:lnTo>
                  <a:pt x="3497580" y="362022"/>
                </a:lnTo>
                <a:lnTo>
                  <a:pt x="3600450" y="308610"/>
                </a:lnTo>
                <a:lnTo>
                  <a:pt x="3703320" y="255198"/>
                </a:lnTo>
                <a:lnTo>
                  <a:pt x="3806190" y="204465"/>
                </a:lnTo>
                <a:lnTo>
                  <a:pt x="3909060" y="158954"/>
                </a:lnTo>
                <a:lnTo>
                  <a:pt x="4011930" y="120947"/>
                </a:lnTo>
                <a:lnTo>
                  <a:pt x="4114800" y="92350"/>
                </a:lnTo>
                <a:lnTo>
                  <a:pt x="4217670" y="74598"/>
                </a:lnTo>
                <a:lnTo>
                  <a:pt x="4320540" y="68580"/>
                </a:lnTo>
                <a:lnTo>
                  <a:pt x="4423410" y="74598"/>
                </a:lnTo>
                <a:lnTo>
                  <a:pt x="4526280" y="92350"/>
                </a:lnTo>
                <a:lnTo>
                  <a:pt x="4629150" y="120947"/>
                </a:lnTo>
                <a:lnTo>
                  <a:pt x="4732020" y="158954"/>
                </a:lnTo>
                <a:lnTo>
                  <a:pt x="4834890" y="204465"/>
                </a:lnTo>
                <a:lnTo>
                  <a:pt x="4937760" y="255198"/>
                </a:lnTo>
                <a:lnTo>
                  <a:pt x="5040630" y="308610"/>
                </a:lnTo>
                <a:lnTo>
                  <a:pt x="5143500" y="362022"/>
                </a:lnTo>
                <a:lnTo>
                  <a:pt x="5246370" y="412755"/>
                </a:lnTo>
                <a:lnTo>
                  <a:pt x="5349240" y="458266"/>
                </a:lnTo>
                <a:lnTo>
                  <a:pt x="5452110" y="496273"/>
                </a:lnTo>
                <a:lnTo>
                  <a:pt x="5554980" y="524870"/>
                </a:lnTo>
                <a:lnTo>
                  <a:pt x="5657850" y="542622"/>
                </a:lnTo>
                <a:lnTo>
                  <a:pt x="5760720" y="548640"/>
                </a:lnTo>
              </a:path>
            </a:pathLst>
          </a:custGeom>
          <a:noFill/>
          <a:ln w="2540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2331720" y="2464308"/>
            <a:ext cx="5760720" cy="918972"/>
          </a:xfrm>
          <a:custGeom>
            <a:avLst/>
            <a:gdLst/>
            <a:ahLst/>
            <a:cxnLst/>
            <a:rect l="l" t="t" r="r" b="b"/>
            <a:pathLst>
              <a:path w="5760720" h="918972">
                <a:moveTo>
                  <a:pt x="0" y="918972"/>
                </a:moveTo>
                <a:lnTo>
                  <a:pt x="102870" y="912610"/>
                </a:lnTo>
                <a:lnTo>
                  <a:pt x="205740" y="893843"/>
                </a:lnTo>
                <a:lnTo>
                  <a:pt x="308610" y="863613"/>
                </a:lnTo>
                <a:lnTo>
                  <a:pt x="411480" y="823434"/>
                </a:lnTo>
                <a:lnTo>
                  <a:pt x="514350" y="775322"/>
                </a:lnTo>
                <a:lnTo>
                  <a:pt x="617220" y="721690"/>
                </a:lnTo>
                <a:lnTo>
                  <a:pt x="720090" y="665226"/>
                </a:lnTo>
                <a:lnTo>
                  <a:pt x="822960" y="608762"/>
                </a:lnTo>
                <a:lnTo>
                  <a:pt x="925830" y="555130"/>
                </a:lnTo>
                <a:lnTo>
                  <a:pt x="1028700" y="507018"/>
                </a:lnTo>
                <a:lnTo>
                  <a:pt x="1131570" y="466839"/>
                </a:lnTo>
                <a:lnTo>
                  <a:pt x="1234440" y="436609"/>
                </a:lnTo>
                <a:lnTo>
                  <a:pt x="1337310" y="417842"/>
                </a:lnTo>
                <a:lnTo>
                  <a:pt x="1440180" y="411480"/>
                </a:lnTo>
                <a:lnTo>
                  <a:pt x="1543050" y="417842"/>
                </a:lnTo>
                <a:lnTo>
                  <a:pt x="1645920" y="436609"/>
                </a:lnTo>
                <a:lnTo>
                  <a:pt x="1748790" y="466839"/>
                </a:lnTo>
                <a:lnTo>
                  <a:pt x="1851660" y="507018"/>
                </a:lnTo>
                <a:lnTo>
                  <a:pt x="1954530" y="555130"/>
                </a:lnTo>
                <a:lnTo>
                  <a:pt x="2057400" y="608762"/>
                </a:lnTo>
                <a:lnTo>
                  <a:pt x="2160270" y="665226"/>
                </a:lnTo>
                <a:lnTo>
                  <a:pt x="2263140" y="721690"/>
                </a:lnTo>
                <a:lnTo>
                  <a:pt x="2366010" y="775322"/>
                </a:lnTo>
                <a:lnTo>
                  <a:pt x="2468880" y="823434"/>
                </a:lnTo>
                <a:lnTo>
                  <a:pt x="2571750" y="863613"/>
                </a:lnTo>
                <a:lnTo>
                  <a:pt x="2674620" y="893843"/>
                </a:lnTo>
                <a:lnTo>
                  <a:pt x="2777490" y="912610"/>
                </a:lnTo>
                <a:lnTo>
                  <a:pt x="2880360" y="918972"/>
                </a:lnTo>
                <a:lnTo>
                  <a:pt x="2983230" y="907452"/>
                </a:lnTo>
                <a:lnTo>
                  <a:pt x="3086100" y="873469"/>
                </a:lnTo>
                <a:lnTo>
                  <a:pt x="3188970" y="818727"/>
                </a:lnTo>
                <a:lnTo>
                  <a:pt x="3291840" y="745971"/>
                </a:lnTo>
                <a:lnTo>
                  <a:pt x="3394710" y="658850"/>
                </a:lnTo>
                <a:lnTo>
                  <a:pt x="3497580" y="561731"/>
                </a:lnTo>
                <a:lnTo>
                  <a:pt x="3600450" y="459486"/>
                </a:lnTo>
                <a:lnTo>
                  <a:pt x="3703320" y="357241"/>
                </a:lnTo>
                <a:lnTo>
                  <a:pt x="3806190" y="260122"/>
                </a:lnTo>
                <a:lnTo>
                  <a:pt x="3909060" y="173001"/>
                </a:lnTo>
                <a:lnTo>
                  <a:pt x="4011930" y="100245"/>
                </a:lnTo>
                <a:lnTo>
                  <a:pt x="4114800" y="45503"/>
                </a:lnTo>
                <a:lnTo>
                  <a:pt x="4217670" y="11520"/>
                </a:lnTo>
                <a:lnTo>
                  <a:pt x="4320540" y="0"/>
                </a:lnTo>
                <a:lnTo>
                  <a:pt x="4423410" y="11520"/>
                </a:lnTo>
                <a:lnTo>
                  <a:pt x="4526280" y="45503"/>
                </a:lnTo>
                <a:lnTo>
                  <a:pt x="4629150" y="100245"/>
                </a:lnTo>
                <a:lnTo>
                  <a:pt x="4732020" y="173001"/>
                </a:lnTo>
                <a:lnTo>
                  <a:pt x="4834890" y="260122"/>
                </a:lnTo>
                <a:lnTo>
                  <a:pt x="4937760" y="357241"/>
                </a:lnTo>
                <a:lnTo>
                  <a:pt x="5040630" y="459486"/>
                </a:lnTo>
                <a:lnTo>
                  <a:pt x="5143500" y="561731"/>
                </a:lnTo>
                <a:lnTo>
                  <a:pt x="5246370" y="658850"/>
                </a:lnTo>
                <a:lnTo>
                  <a:pt x="5349240" y="745971"/>
                </a:lnTo>
                <a:lnTo>
                  <a:pt x="5452110" y="818727"/>
                </a:lnTo>
                <a:lnTo>
                  <a:pt x="5554980" y="873469"/>
                </a:lnTo>
                <a:lnTo>
                  <a:pt x="5657850" y="907452"/>
                </a:lnTo>
                <a:lnTo>
                  <a:pt x="5760720" y="918972"/>
                </a:lnTo>
              </a:path>
            </a:pathLst>
          </a:custGeom>
          <a:noFill/>
          <a:ln w="3175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2825496"/>
            <a:ext cx="21945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444441"/>
                </a:solidFill>
                <a:latin typeface="Arial"/>
              </a:rPr>
              <a:t>accessibility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4754880"/>
            <a:ext cx="6035040" cy="0"/>
          </a:xfrm>
          <a:prstGeom prst="line">
            <a:avLst/>
          </a:prstGeom>
          <a:ln w="12700">
            <a:solidFill>
              <a:srgbClr val="D3D1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017520" y="4206240"/>
            <a:ext cx="246888" cy="548640"/>
          </a:xfrm>
          <a:prstGeom prst="rect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9272" y="4343400"/>
            <a:ext cx="246888" cy="411480"/>
          </a:xfrm>
          <a:prstGeom prst="rect">
            <a:avLst/>
          </a:prstGeom>
          <a:solidFill>
            <a:srgbClr val="EF9F27"/>
          </a:solidFill>
          <a:ln w="635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4507992"/>
            <a:ext cx="246888" cy="246888"/>
          </a:xfrm>
          <a:prstGeom prst="rect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65192" y="4590288"/>
            <a:ext cx="246888" cy="164592"/>
          </a:xfrm>
          <a:prstGeom prst="rect">
            <a:avLst/>
          </a:prstGeom>
          <a:solidFill>
            <a:srgbClr val="EF9F27"/>
          </a:solidFill>
          <a:ln w="635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1928" y="4233672"/>
            <a:ext cx="246888" cy="521208"/>
          </a:xfrm>
          <a:prstGeom prst="rect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0" y="3877056"/>
            <a:ext cx="246888" cy="877824"/>
          </a:xfrm>
          <a:prstGeom prst="rect">
            <a:avLst/>
          </a:prstGeom>
          <a:solidFill>
            <a:srgbClr val="EF9F27"/>
          </a:solidFill>
          <a:ln w="635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80960" y="4535424"/>
            <a:ext cx="246888" cy="219456"/>
          </a:xfrm>
          <a:prstGeom prst="rect">
            <a:avLst/>
          </a:prstGeom>
          <a:solidFill>
            <a:srgbClr val="D3D1C7"/>
          </a:solidFill>
          <a:ln w="6350"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82712" y="4672584"/>
            <a:ext cx="246888" cy="82296"/>
          </a:xfrm>
          <a:prstGeom prst="rect">
            <a:avLst/>
          </a:prstGeom>
          <a:solidFill>
            <a:srgbClr val="EF9F27"/>
          </a:solidFill>
          <a:ln w="635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1384" y="3621024"/>
            <a:ext cx="4114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854F0B"/>
                </a:solidFill>
                <a:latin typeface="Arial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3977640"/>
            <a:ext cx="4114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F5E5A"/>
                </a:solidFill>
                <a:latin typeface="Arial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0416" y="4306824"/>
            <a:ext cx="4114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5F5E5A"/>
                </a:solidFill>
                <a:latin typeface="Arial"/>
              </a:rPr>
              <a:t>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828032"/>
            <a:ext cx="32918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F5E5A"/>
                </a:solidFill>
                <a:latin typeface="Arial"/>
              </a:rPr>
              <a:t>total crossovers conserved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142232"/>
            <a:ext cx="21945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854F0B"/>
                </a:solidFill>
                <a:latin typeface="Arial"/>
              </a:rPr>
              <a:t>crossovers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31720" y="5509260"/>
            <a:ext cx="6035040" cy="0"/>
          </a:xfrm>
          <a:prstGeom prst="line">
            <a:avLst/>
          </a:prstGeom>
          <a:ln w="12700">
            <a:solidFill>
              <a:srgbClr val="D3D1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2331720" y="5262372"/>
            <a:ext cx="5760720" cy="54864"/>
          </a:xfrm>
          <a:custGeom>
            <a:avLst/>
            <a:gdLst/>
            <a:ahLst/>
            <a:cxnLst/>
            <a:rect l="l" t="t" r="r" b="b"/>
            <a:pathLst>
              <a:path w="5760720" h="54864">
                <a:moveTo>
                  <a:pt x="0" y="54864"/>
                </a:moveTo>
                <a:lnTo>
                  <a:pt x="107769" y="54692"/>
                </a:lnTo>
                <a:lnTo>
                  <a:pt x="215537" y="54185"/>
                </a:lnTo>
                <a:lnTo>
                  <a:pt x="323306" y="53368"/>
                </a:lnTo>
                <a:lnTo>
                  <a:pt x="431074" y="52282"/>
                </a:lnTo>
                <a:lnTo>
                  <a:pt x="538843" y="50982"/>
                </a:lnTo>
                <a:lnTo>
                  <a:pt x="646611" y="49532"/>
                </a:lnTo>
                <a:lnTo>
                  <a:pt x="754380" y="48006"/>
                </a:lnTo>
                <a:lnTo>
                  <a:pt x="862149" y="46480"/>
                </a:lnTo>
                <a:lnTo>
                  <a:pt x="969917" y="45030"/>
                </a:lnTo>
                <a:lnTo>
                  <a:pt x="1077686" y="43730"/>
                </a:lnTo>
                <a:lnTo>
                  <a:pt x="1185454" y="42644"/>
                </a:lnTo>
                <a:lnTo>
                  <a:pt x="1293223" y="41827"/>
                </a:lnTo>
                <a:lnTo>
                  <a:pt x="1400991" y="41320"/>
                </a:lnTo>
                <a:lnTo>
                  <a:pt x="1508760" y="41148"/>
                </a:lnTo>
                <a:lnTo>
                  <a:pt x="1626326" y="40804"/>
                </a:lnTo>
                <a:lnTo>
                  <a:pt x="1743891" y="39790"/>
                </a:lnTo>
                <a:lnTo>
                  <a:pt x="1861457" y="38156"/>
                </a:lnTo>
                <a:lnTo>
                  <a:pt x="1979023" y="35984"/>
                </a:lnTo>
                <a:lnTo>
                  <a:pt x="2096589" y="33383"/>
                </a:lnTo>
                <a:lnTo>
                  <a:pt x="2214154" y="30484"/>
                </a:lnTo>
                <a:lnTo>
                  <a:pt x="2331720" y="27432"/>
                </a:lnTo>
                <a:lnTo>
                  <a:pt x="2449286" y="24380"/>
                </a:lnTo>
                <a:lnTo>
                  <a:pt x="2566851" y="21481"/>
                </a:lnTo>
                <a:lnTo>
                  <a:pt x="2684417" y="18880"/>
                </a:lnTo>
                <a:lnTo>
                  <a:pt x="2801983" y="16708"/>
                </a:lnTo>
                <a:lnTo>
                  <a:pt x="2919549" y="15074"/>
                </a:lnTo>
                <a:lnTo>
                  <a:pt x="3037114" y="14060"/>
                </a:lnTo>
                <a:lnTo>
                  <a:pt x="3154680" y="13716"/>
                </a:lnTo>
                <a:lnTo>
                  <a:pt x="3237956" y="13544"/>
                </a:lnTo>
                <a:lnTo>
                  <a:pt x="3321231" y="13037"/>
                </a:lnTo>
                <a:lnTo>
                  <a:pt x="3404507" y="12220"/>
                </a:lnTo>
                <a:lnTo>
                  <a:pt x="3487783" y="11134"/>
                </a:lnTo>
                <a:lnTo>
                  <a:pt x="3571059" y="9834"/>
                </a:lnTo>
                <a:lnTo>
                  <a:pt x="3654334" y="8384"/>
                </a:lnTo>
                <a:lnTo>
                  <a:pt x="3737610" y="6858"/>
                </a:lnTo>
                <a:lnTo>
                  <a:pt x="3820886" y="5332"/>
                </a:lnTo>
                <a:lnTo>
                  <a:pt x="3904161" y="3882"/>
                </a:lnTo>
                <a:lnTo>
                  <a:pt x="3987437" y="2582"/>
                </a:lnTo>
                <a:lnTo>
                  <a:pt x="4070713" y="1496"/>
                </a:lnTo>
                <a:lnTo>
                  <a:pt x="4153989" y="679"/>
                </a:lnTo>
                <a:lnTo>
                  <a:pt x="4237264" y="172"/>
                </a:lnTo>
                <a:lnTo>
                  <a:pt x="4320540" y="0"/>
                </a:lnTo>
                <a:lnTo>
                  <a:pt x="4423410" y="688"/>
                </a:lnTo>
                <a:lnTo>
                  <a:pt x="4526280" y="2717"/>
                </a:lnTo>
                <a:lnTo>
                  <a:pt x="4629150" y="5985"/>
                </a:lnTo>
                <a:lnTo>
                  <a:pt x="4732020" y="10328"/>
                </a:lnTo>
                <a:lnTo>
                  <a:pt x="4834890" y="15530"/>
                </a:lnTo>
                <a:lnTo>
                  <a:pt x="4937760" y="21328"/>
                </a:lnTo>
                <a:lnTo>
                  <a:pt x="5040630" y="27432"/>
                </a:lnTo>
                <a:lnTo>
                  <a:pt x="5143500" y="33536"/>
                </a:lnTo>
                <a:lnTo>
                  <a:pt x="5246370" y="39334"/>
                </a:lnTo>
                <a:lnTo>
                  <a:pt x="5349240" y="44536"/>
                </a:lnTo>
                <a:lnTo>
                  <a:pt x="5452110" y="48879"/>
                </a:lnTo>
                <a:lnTo>
                  <a:pt x="5554980" y="52147"/>
                </a:lnTo>
                <a:lnTo>
                  <a:pt x="5657850" y="54176"/>
                </a:lnTo>
                <a:lnTo>
                  <a:pt x="5760720" y="54864"/>
                </a:lnTo>
              </a:path>
            </a:pathLst>
          </a:custGeom>
          <a:noFill/>
          <a:ln w="19050">
            <a:solidFill>
              <a:srgbClr val="8887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2331720" y="4974336"/>
            <a:ext cx="5760720" cy="342900"/>
          </a:xfrm>
          <a:custGeom>
            <a:avLst/>
            <a:gdLst/>
            <a:ahLst/>
            <a:cxnLst/>
            <a:rect l="l" t="t" r="r" b="b"/>
            <a:pathLst>
              <a:path w="5760720" h="342900">
                <a:moveTo>
                  <a:pt x="0" y="342900"/>
                </a:moveTo>
                <a:lnTo>
                  <a:pt x="127363" y="342556"/>
                </a:lnTo>
                <a:lnTo>
                  <a:pt x="254726" y="341542"/>
                </a:lnTo>
                <a:lnTo>
                  <a:pt x="382089" y="339908"/>
                </a:lnTo>
                <a:lnTo>
                  <a:pt x="509451" y="337736"/>
                </a:lnTo>
                <a:lnTo>
                  <a:pt x="636814" y="335135"/>
                </a:lnTo>
                <a:lnTo>
                  <a:pt x="764177" y="332236"/>
                </a:lnTo>
                <a:lnTo>
                  <a:pt x="891540" y="329184"/>
                </a:lnTo>
                <a:lnTo>
                  <a:pt x="1018903" y="326132"/>
                </a:lnTo>
                <a:lnTo>
                  <a:pt x="1146266" y="323233"/>
                </a:lnTo>
                <a:lnTo>
                  <a:pt x="1273629" y="320632"/>
                </a:lnTo>
                <a:lnTo>
                  <a:pt x="1400991" y="318460"/>
                </a:lnTo>
                <a:lnTo>
                  <a:pt x="1528354" y="316826"/>
                </a:lnTo>
                <a:lnTo>
                  <a:pt x="1655717" y="315812"/>
                </a:lnTo>
                <a:lnTo>
                  <a:pt x="1783080" y="315468"/>
                </a:lnTo>
                <a:lnTo>
                  <a:pt x="1900646" y="314780"/>
                </a:lnTo>
                <a:lnTo>
                  <a:pt x="2018211" y="312751"/>
                </a:lnTo>
                <a:lnTo>
                  <a:pt x="2135777" y="309483"/>
                </a:lnTo>
                <a:lnTo>
                  <a:pt x="2253343" y="305140"/>
                </a:lnTo>
                <a:lnTo>
                  <a:pt x="2370909" y="299938"/>
                </a:lnTo>
                <a:lnTo>
                  <a:pt x="2488474" y="294140"/>
                </a:lnTo>
                <a:lnTo>
                  <a:pt x="2606040" y="288036"/>
                </a:lnTo>
                <a:lnTo>
                  <a:pt x="2723606" y="281932"/>
                </a:lnTo>
                <a:lnTo>
                  <a:pt x="2841171" y="276134"/>
                </a:lnTo>
                <a:lnTo>
                  <a:pt x="2958737" y="270932"/>
                </a:lnTo>
                <a:lnTo>
                  <a:pt x="3076303" y="266589"/>
                </a:lnTo>
                <a:lnTo>
                  <a:pt x="3193869" y="263321"/>
                </a:lnTo>
                <a:lnTo>
                  <a:pt x="3311434" y="261292"/>
                </a:lnTo>
                <a:lnTo>
                  <a:pt x="3429000" y="260604"/>
                </a:lnTo>
                <a:lnTo>
                  <a:pt x="3492681" y="257337"/>
                </a:lnTo>
                <a:lnTo>
                  <a:pt x="3556363" y="247700"/>
                </a:lnTo>
                <a:lnTo>
                  <a:pt x="3620044" y="232176"/>
                </a:lnTo>
                <a:lnTo>
                  <a:pt x="3683726" y="211544"/>
                </a:lnTo>
                <a:lnTo>
                  <a:pt x="3747407" y="186838"/>
                </a:lnTo>
                <a:lnTo>
                  <a:pt x="3811089" y="159297"/>
                </a:lnTo>
                <a:lnTo>
                  <a:pt x="3874770" y="130302"/>
                </a:lnTo>
                <a:lnTo>
                  <a:pt x="3938451" y="101307"/>
                </a:lnTo>
                <a:lnTo>
                  <a:pt x="4002133" y="73766"/>
                </a:lnTo>
                <a:lnTo>
                  <a:pt x="4065814" y="49060"/>
                </a:lnTo>
                <a:lnTo>
                  <a:pt x="4129496" y="28428"/>
                </a:lnTo>
                <a:lnTo>
                  <a:pt x="4193177" y="12904"/>
                </a:lnTo>
                <a:lnTo>
                  <a:pt x="4256859" y="3267"/>
                </a:lnTo>
                <a:lnTo>
                  <a:pt x="4320540" y="0"/>
                </a:lnTo>
                <a:lnTo>
                  <a:pt x="4384221" y="2923"/>
                </a:lnTo>
                <a:lnTo>
                  <a:pt x="4447903" y="11546"/>
                </a:lnTo>
                <a:lnTo>
                  <a:pt x="4511584" y="25435"/>
                </a:lnTo>
                <a:lnTo>
                  <a:pt x="4575266" y="43896"/>
                </a:lnTo>
                <a:lnTo>
                  <a:pt x="4638947" y="66001"/>
                </a:lnTo>
                <a:lnTo>
                  <a:pt x="4702629" y="90643"/>
                </a:lnTo>
                <a:lnTo>
                  <a:pt x="4766310" y="116586"/>
                </a:lnTo>
                <a:lnTo>
                  <a:pt x="4829991" y="142529"/>
                </a:lnTo>
                <a:lnTo>
                  <a:pt x="4893673" y="167171"/>
                </a:lnTo>
                <a:lnTo>
                  <a:pt x="4957354" y="189276"/>
                </a:lnTo>
                <a:lnTo>
                  <a:pt x="5021036" y="207737"/>
                </a:lnTo>
                <a:lnTo>
                  <a:pt x="5084717" y="221626"/>
                </a:lnTo>
                <a:lnTo>
                  <a:pt x="5148399" y="230249"/>
                </a:lnTo>
                <a:lnTo>
                  <a:pt x="5212080" y="233172"/>
                </a:lnTo>
                <a:lnTo>
                  <a:pt x="5251269" y="234548"/>
                </a:lnTo>
                <a:lnTo>
                  <a:pt x="5290457" y="238605"/>
                </a:lnTo>
                <a:lnTo>
                  <a:pt x="5329646" y="245142"/>
                </a:lnTo>
                <a:lnTo>
                  <a:pt x="5368834" y="253829"/>
                </a:lnTo>
                <a:lnTo>
                  <a:pt x="5408023" y="264231"/>
                </a:lnTo>
                <a:lnTo>
                  <a:pt x="5447211" y="275828"/>
                </a:lnTo>
                <a:lnTo>
                  <a:pt x="5486400" y="288036"/>
                </a:lnTo>
                <a:lnTo>
                  <a:pt x="5525589" y="300244"/>
                </a:lnTo>
                <a:lnTo>
                  <a:pt x="5564777" y="311841"/>
                </a:lnTo>
                <a:lnTo>
                  <a:pt x="5603966" y="322243"/>
                </a:lnTo>
                <a:lnTo>
                  <a:pt x="5643154" y="330930"/>
                </a:lnTo>
                <a:lnTo>
                  <a:pt x="5682343" y="337467"/>
                </a:lnTo>
                <a:lnTo>
                  <a:pt x="5721531" y="341524"/>
                </a:lnTo>
                <a:lnTo>
                  <a:pt x="5760720" y="342900"/>
                </a:lnTo>
              </a:path>
            </a:pathLst>
          </a:custGeom>
          <a:noFill/>
          <a:ln w="254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 flipV="1">
            <a:off x="6652260" y="5029200"/>
            <a:ext cx="0" cy="246888"/>
          </a:xfrm>
          <a:prstGeom prst="line">
            <a:avLst/>
          </a:prstGeom>
          <a:ln w="1905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03920" y="5088636"/>
            <a:ext cx="21945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0F6E56"/>
                </a:solidFill>
                <a:latin typeface="Arial"/>
              </a:rPr>
              <a:t>diversity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705856"/>
            <a:ext cx="438912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5F5E5A"/>
                </a:solidFill>
                <a:latin typeface="Arial"/>
              </a:rPr>
              <a:t>π rises in opened region, over generations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</Words>
  <Application>Microsoft Macintosh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Ortiz-Barrientos</cp:lastModifiedBy>
  <cp:revision>1</cp:revision>
  <dcterms:created xsi:type="dcterms:W3CDTF">2013-01-27T09:14:16Z</dcterms:created>
  <dcterms:modified xsi:type="dcterms:W3CDTF">2026-06-18T03:42:28Z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2026-06-18T03:42:28Z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7f058dc3-31ed-413c-b4e3-5995b2872ec5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50, 3, 0, 1</vt:lpwstr>
  </property>
</Properties>
</file>